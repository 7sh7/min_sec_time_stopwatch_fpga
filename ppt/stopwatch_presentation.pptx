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81407ba9-8044-0cdf-a9e7-31eaa6e35060}">
          <p14:sldIdLst>
            <p14:sldId id="256"/>
            <p14:sldId id="257"/>
            <p14:sldId id="258"/>
            <p14:sldId id="259"/>
          </p14:sldIdLst>
        </p14:section>
        <p14:section name="구현" id="{59ea96cd-1dad-6ea9-18dc-5416b089cfe6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트러블슈팅과 후기" id="{37d4ee1d-91ed-36d5-97db-1a50bad3f442}">
          <p14:sldIdLst>
            <p14:sldId id="274"/>
            <p14:sldId id="275"/>
            <p14:sldId id="276"/>
          </p14:sldIdLst>
        </p14:section>
        <p14:section name="Background" id="{a30846d0-c2aa-f915-e0f9-37e1ca171988}">
          <p14:sldIdLst>
            <p14:sldId id="277"/>
            <p14:sldId id="278"/>
            <p14:sldId id="279"/>
            <p14:sldId id="280"/>
            <p14:sldId id="281"/>
          </p14:sldIdLst>
        </p14:section>
        <p14:section name="정리" id="{ab9aa917-b609-a02c-69db-3c12a2751bfb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지난주 up/down 카운터에 스톱워치 모드를 추가한 과제입니다. 요구사항이 세 가지라서 그 세 가지를 어떻게 풀었는지 순서대로 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문구를 그대로 설계 요구로 바꾼 표입니다. 세 번째 줄의 "해당 기능 수행"이 포인트였는데, 애니메이션 중에 누른 버튼이 단순히 애니메이션만 끄는 게 아니라 원래 기능까지 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버튼 배치는 레퍼런스 코드의 btnL 모드 전환을 그대로 두고, 가운데 버튼을 시작/정지, 오른쪽을 클리어로 했습니다. seg 의 최상위 비트가 dp 라서 dot 깜박임은 이 비트 하나로 해결됩니다.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왼쪽에서 오른쪽으로 신호가 흐릅니다. 버튼은 디바운서를 지나 1클럭 펄스가 되고, tick_generator 가 1kHz 펄스를 만들어서 세 군데로 나눠줍니다. 스톱워치 블록 안에 FSM, BCD 카운터, idle 타이머, 애니메이션 생성기가 들어 있고, display_mux 가 모드별로 FND 에 보낼 숫자를 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네 가지가 뒤에 나오는 배경 기술 네 가지와 하나씩 연결됩니다. (1)(2) 는 setup/hold 와 glitch, (3) 은 metastability, 그리고 tick 과 reset 처럼 여러 곳으로 가는 신호가 fan-out 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상태는 세 개뿐입니다. 클리어는 상태가 아니라 동작이라서 따로 두지 않았습니다. 다른 모드로 나갔다 와도 RUN 이면 시간은 계속 흐르게 했고, 다른 모드에서 누른 btnC, btnR 은 active 신호로 막아서 스톱워치에 영향이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레퍼런스에서는 main_controller 안에서 이전 버튼값을 기억해서 엣지를 잡았는데, 그걸 밖으로 빼서 모듈로 만들었습니다. 덕분에 FSM 코드에서 버튼 관련 잡음이 사라졌고 테스트벤치에서도 펄스 하나로 전이를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dot 를 별도 0.5초 카운터로 만들지 않고 ms_cnt 의 전반/후반으로 만들었습니다. 그래서 초가 바뀌는 순간과 dot 가 켜지는 순간이 항상 같습니다. 정지 중에는 켜진 채로 두어서 정지 상태를 눈으로 알 수 있게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idle 타이머는 STOP 이고 스톱워치 모드일 때만 셉니다. 어떤 버튼이든 오면 0 으로 돌아가고, 타임아웃과 버튼이 같은 클럭에 오면 버튼이 이깁니다. 애니메이션 인덱스는 0~5 만 돌기 때문에 가운데 g 세그먼트는 구조적으로 켜질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100MHz 로 5초를 그대로 시뮬하면 5억 사이클이라 현실적이지 않습니다. 파라미터만 줄이면 같은 코드로 1ms 안에 끝납니다. 이게 처음부터 tick 기반으로 설계한 이유 중 하나입니다.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비블로킹 대입이라 같은 always 블록 안에서 ms_cnt 리셋과 sec_ones 증가가 같은 엣지에 반영됩니다. 파형에서 두 신호가 같은 세로선에서 바뀌는 걸 확인하는 게 포인트입니다.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동기화 2클럭 + 카운터 LIMIT 클럭 + 1 클럭, 그래서 지연이 LIMIT+3 입니다. 테스트벤치에서 이 숫자를 정확히 체크합니다.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애니메이션 중에 버튼을 누르면 "애니메이션 중지 후 기능 수행"인데, 상태 전이 한 번으로 둘 다 됩니다. ANIM 을 벗어나는 순간 anim_en 이 0 이 되고 RUN 이 시작됩니다.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영상은 이 순서대로 찍으면 요구사항 세 가지가 전부 한 번에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줄은 솔직하게 남겼습니다. 리셋 해제를 동기화하지 않으면 FF 마다 리셋이 풀리는 사이클이 다를 수 있다는 건 다음 장 metastability 와 연결됩니다.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면접에서 "왜 이렇게 설계했나"를 물으면 이 장의 첫 두 문단이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Vivado 의 Timing Summary 에서 WNS 가 setup 여유, WHS 가 hold 여유입니다. 이 설계에서 가장 긴 경로는 bin2bcd 의 나눗셈 체인일 것으로 예상합니다.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디바운스는 채터링 문제고 동기화는 준안정 문제입니다. 둘은 다른 문제인데 같은 모듈에 들어 있어서 헷갈리기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레퍼런스처럼 분주한 신호를 다른 always 의 클럭으로 쓰면 그 신호의 글리치가 곧 클럭 엣지가 됩니다. enable 로 쓰면 글리치가 있어도 다음 엣지에서 한 번 샘플링될 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비동기 리셋은 모든 FF 로 가기 때문에 보통 가장 fan-out 이 큰 넷입니다.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325880"/>
            <a:ext cx="42062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697480"/>
            <a:ext cx="4023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3258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chemeClr val="bg1"/>
                </a:solidFill>
              </a:rPr>
              <a:t>분초 스톱워치 설계</a:t>
            </a:r>
            <a:endParaRPr lang="ko-KR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697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Basys3 · Verilog</a:t>
            </a:r>
            <a:endParaRPr lang="ko-KR" sz="1400" dirty="0"/>
          </a:p>
          <a:p>
            <a:pPr algn="l" indent="0" marL="0"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모드 전환 / circle 애니메이션 / dot 깜박임</a:t>
            </a:r>
            <a:endParaRPr lang="ko-KR" sz="1400" dirty="0"/>
          </a:p>
        </p:txBody>
      </p:sp>
      <p:sp>
        <p:nvSpPr>
          <p:cNvPr id="4" name="placeholder-1"/>
          <p:cNvSpPr txBox="1"/>
          <p:nvPr/>
        </p:nvSpPr>
        <p:spPr>
          <a:xfrm>
            <a:off x="457200" y="4069080"/>
            <a:ext cx="960120" cy="329184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dirty="0">
                <a:solidFill>
                  <a:schemeClr val="accent1"/>
                </a:solidFill>
              </a:rPr>
              <a:t>{{이름}}</a:t>
            </a:r>
            <a:endParaRPr lang="ko-KR" sz="1300" dirty="0"/>
          </a:p>
        </p:txBody>
      </p:sp>
      <p:sp>
        <p:nvSpPr>
          <p:cNvPr id="5" name="text-2"/>
          <p:cNvSpPr txBox="1"/>
          <p:nvPr/>
        </p:nvSpPr>
        <p:spPr>
          <a:xfrm>
            <a:off x="1536192" y="4069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</a:rPr>
              <a:t>· 2026.10.22</a:t>
            </a:r>
            <a:endParaRPr lang="ko-KR" sz="1300" dirty="0"/>
          </a:p>
        </p:txBody>
      </p:sp>
      <p:sp>
        <p:nvSpPr>
          <p:cNvPr id="6" name="seg-3"/>
          <p:cNvSpPr/>
          <p:nvPr/>
        </p:nvSpPr>
        <p:spPr>
          <a:xfrm>
            <a:off x="5289804" y="1890522"/>
            <a:ext cx="539496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7" name="seg-4"/>
          <p:cNvSpPr/>
          <p:nvPr/>
        </p:nvSpPr>
        <p:spPr>
          <a:xfrm rot="5400000">
            <a:off x="5582412" y="2201418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8" name="seg-5"/>
          <p:cNvSpPr/>
          <p:nvPr/>
        </p:nvSpPr>
        <p:spPr>
          <a:xfrm rot="5400000">
            <a:off x="5582412" y="2823210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9" name="seg-6"/>
          <p:cNvSpPr/>
          <p:nvPr/>
        </p:nvSpPr>
        <p:spPr>
          <a:xfrm>
            <a:off x="5289804" y="3134106"/>
            <a:ext cx="539496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10" name="seg-7"/>
          <p:cNvSpPr/>
          <p:nvPr/>
        </p:nvSpPr>
        <p:spPr>
          <a:xfrm rot="5400000">
            <a:off x="4978908" y="2823210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11" name="seg-8"/>
          <p:cNvSpPr/>
          <p:nvPr/>
        </p:nvSpPr>
        <p:spPr>
          <a:xfrm rot="5400000">
            <a:off x="4978908" y="2201418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12" name="seg-9"/>
          <p:cNvSpPr/>
          <p:nvPr/>
        </p:nvSpPr>
        <p:spPr>
          <a:xfrm>
            <a:off x="5289804" y="2512314"/>
            <a:ext cx="539496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13" name="dp-10"/>
          <p:cNvSpPr/>
          <p:nvPr/>
        </p:nvSpPr>
        <p:spPr>
          <a:xfrm>
            <a:off x="5952744" y="3125191"/>
            <a:ext cx="136703" cy="136703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seg-11"/>
          <p:cNvSpPr/>
          <p:nvPr/>
        </p:nvSpPr>
        <p:spPr>
          <a:xfrm>
            <a:off x="6185916" y="1890522"/>
            <a:ext cx="539496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15" name="seg-12"/>
          <p:cNvSpPr/>
          <p:nvPr/>
        </p:nvSpPr>
        <p:spPr>
          <a:xfrm rot="5400000">
            <a:off x="6478524" y="2201418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16" name="seg-13"/>
          <p:cNvSpPr/>
          <p:nvPr/>
        </p:nvSpPr>
        <p:spPr>
          <a:xfrm rot="5400000">
            <a:off x="6478524" y="2823210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17" name="seg-14"/>
          <p:cNvSpPr/>
          <p:nvPr/>
        </p:nvSpPr>
        <p:spPr>
          <a:xfrm>
            <a:off x="6185916" y="3134106"/>
            <a:ext cx="539496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18" name="seg-15"/>
          <p:cNvSpPr/>
          <p:nvPr/>
        </p:nvSpPr>
        <p:spPr>
          <a:xfrm rot="5400000">
            <a:off x="5875020" y="2823210"/>
            <a:ext cx="557784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19" name="seg-16"/>
          <p:cNvSpPr/>
          <p:nvPr/>
        </p:nvSpPr>
        <p:spPr>
          <a:xfrm rot="5400000">
            <a:off x="5875020" y="2201418"/>
            <a:ext cx="557784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20" name="seg-17"/>
          <p:cNvSpPr/>
          <p:nvPr/>
        </p:nvSpPr>
        <p:spPr>
          <a:xfrm>
            <a:off x="6185916" y="2512314"/>
            <a:ext cx="539496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21" name="dp-18"/>
          <p:cNvSpPr/>
          <p:nvPr/>
        </p:nvSpPr>
        <p:spPr>
          <a:xfrm>
            <a:off x="6848856" y="3125191"/>
            <a:ext cx="136703" cy="13670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eg-19"/>
          <p:cNvSpPr/>
          <p:nvPr/>
        </p:nvSpPr>
        <p:spPr>
          <a:xfrm>
            <a:off x="7082028" y="1890522"/>
            <a:ext cx="539496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23" name="seg-20"/>
          <p:cNvSpPr/>
          <p:nvPr/>
        </p:nvSpPr>
        <p:spPr>
          <a:xfrm rot="5400000">
            <a:off x="7374636" y="2201418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24" name="seg-21"/>
          <p:cNvSpPr/>
          <p:nvPr/>
        </p:nvSpPr>
        <p:spPr>
          <a:xfrm rot="5400000">
            <a:off x="7374636" y="2823210"/>
            <a:ext cx="557784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25" name="seg-22"/>
          <p:cNvSpPr/>
          <p:nvPr/>
        </p:nvSpPr>
        <p:spPr>
          <a:xfrm>
            <a:off x="7082028" y="3134106"/>
            <a:ext cx="539496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26" name="seg-23"/>
          <p:cNvSpPr/>
          <p:nvPr/>
        </p:nvSpPr>
        <p:spPr>
          <a:xfrm rot="5400000">
            <a:off x="6771132" y="2823210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27" name="seg-24"/>
          <p:cNvSpPr/>
          <p:nvPr/>
        </p:nvSpPr>
        <p:spPr>
          <a:xfrm rot="5400000">
            <a:off x="6771132" y="2201418"/>
            <a:ext cx="557784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28" name="seg-25"/>
          <p:cNvSpPr/>
          <p:nvPr/>
        </p:nvSpPr>
        <p:spPr>
          <a:xfrm>
            <a:off x="7082028" y="2512314"/>
            <a:ext cx="539496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29" name="dp-26"/>
          <p:cNvSpPr/>
          <p:nvPr/>
        </p:nvSpPr>
        <p:spPr>
          <a:xfrm>
            <a:off x="7744968" y="3125191"/>
            <a:ext cx="136703" cy="136703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0" name="seg-27"/>
          <p:cNvSpPr/>
          <p:nvPr/>
        </p:nvSpPr>
        <p:spPr>
          <a:xfrm>
            <a:off x="7978140" y="1890522"/>
            <a:ext cx="539496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31" name="seg-28"/>
          <p:cNvSpPr/>
          <p:nvPr/>
        </p:nvSpPr>
        <p:spPr>
          <a:xfrm rot="5400000">
            <a:off x="8270748" y="2201418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32" name="seg-29"/>
          <p:cNvSpPr/>
          <p:nvPr/>
        </p:nvSpPr>
        <p:spPr>
          <a:xfrm rot="5400000">
            <a:off x="8270748" y="2823210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33" name="seg-30"/>
          <p:cNvSpPr/>
          <p:nvPr/>
        </p:nvSpPr>
        <p:spPr>
          <a:xfrm>
            <a:off x="7978140" y="3134106"/>
            <a:ext cx="539496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34" name="seg-31"/>
          <p:cNvSpPr/>
          <p:nvPr/>
        </p:nvSpPr>
        <p:spPr>
          <a:xfrm rot="5400000">
            <a:off x="7667244" y="2823210"/>
            <a:ext cx="557784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35" name="seg-32"/>
          <p:cNvSpPr/>
          <p:nvPr/>
        </p:nvSpPr>
        <p:spPr>
          <a:xfrm rot="5400000">
            <a:off x="7667244" y="2201418"/>
            <a:ext cx="557784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36" name="seg-33"/>
          <p:cNvSpPr/>
          <p:nvPr/>
        </p:nvSpPr>
        <p:spPr>
          <a:xfrm>
            <a:off x="7978140" y="2512314"/>
            <a:ext cx="539496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37" name="dp-34"/>
          <p:cNvSpPr/>
          <p:nvPr/>
        </p:nvSpPr>
        <p:spPr>
          <a:xfrm>
            <a:off x="8641080" y="3125191"/>
            <a:ext cx="136703" cy="136703"/>
          </a:xfrm>
          <a:prstGeom prst="ellipse">
            <a:avLst/>
          </a:prstGeom>
          <a:solidFill>
            <a:schemeClr val="accent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과제에서 요구한 것</a:t>
            </a:r>
            <a:endParaRPr lang="ko-KR" sz="2600" dirty="0"/>
          </a:p>
        </p:txBody>
      </p:sp>
      <p:graphicFrame>
        <p:nvGraphicFramePr>
          <p:cNvPr id="3" name="table-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663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요구사항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설계로 옮기면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분초 스톱워치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FND 4자리에 MM SS. 초 0~59, 분 0~99. 시작/정지/클리어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분·초 사이 Dot 가 1초에 1번 깜박임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분 1의 자리(an[2]) dp 를 0.5초 ON / 0.5초 OFF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일시정지 5초 무입력 → circle 애니메이션, 버튼 누르면 중지 + 해당 기능 수행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STOP 에서 5초 타이머 → ANIM 상태. ANIM 에서 btnC 는 RUN, btnR 은 클리어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-36"/>
          <p:cNvSpPr txBox="1"/>
          <p:nvPr/>
        </p:nvSpPr>
        <p:spPr>
          <a:xfrm>
            <a:off x="457200" y="3977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"stopwatch mode" 라는 표현 때문에 기존 모드(UP/DOWN/SW_READ) 는 그대로 두고 모드를 하나 추가하는 쪽으로 정했다.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Basys3 에서 쓰는 핀</a:t>
            </a:r>
            <a:endParaRPr lang="ko-KR" sz="2600" dirty="0"/>
          </a:p>
        </p:txBody>
      </p:sp>
      <p:graphicFrame>
        <p:nvGraphicFramePr>
          <p:cNvPr id="4" name="table-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4023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신호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보드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역할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clk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W5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100 MHz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reset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btnU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비동기 리셋 (active-high)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btn[0]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btnL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모드 전환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btn[1]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btnC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스톱워치 시작 / 정지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btn[2]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btnR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스톱워치 클리어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sw[7:0]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SW0~7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SW_READ 모드 표시값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an[3:0], seg[7:0]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FND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4자리 스캔, seg[7] = dp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led[15:13]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LED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현재 모드</a:t>
                      </a:r>
                      <a:endParaRPr lang="ko-KR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모드 구성</a:t>
            </a:r>
            <a:endParaRPr lang="ko-KR" sz="2600" dirty="0"/>
          </a:p>
        </p:txBody>
      </p:sp>
      <p:pic>
        <p:nvPicPr>
          <p:cNvPr id="3" name="mode_cycle-38" descr="mode_cy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8229600" cy="2211019"/>
          </a:xfrm>
          <a:prstGeom prst="rect">
            <a:avLst/>
          </a:prstGeom>
        </p:spPr>
      </p:pic>
      <p:sp>
        <p:nvSpPr>
          <p:cNvPr id="4" name="text-39"/>
          <p:cNvSpPr txBox="1"/>
          <p:nvPr/>
        </p:nvSpPr>
        <p:spPr>
          <a:xfrm>
            <a:off x="457200" y="4085539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btnL 을 누를 때마다 한 칸씩. IDLE 은 리셋 직후에만 지나간다.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블록 다이어그램</a:t>
            </a:r>
            <a:endParaRPr lang="ko-KR" sz="2600" dirty="0"/>
          </a:p>
        </p:txBody>
      </p:sp>
      <p:pic>
        <p:nvPicPr>
          <p:cNvPr id="4" name="block_diagram-40" descr="block_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5015" y="1051560"/>
            <a:ext cx="5453971" cy="3383280"/>
          </a:xfrm>
          <a:prstGeom prst="rect">
            <a:avLst/>
          </a:prstGeom>
        </p:spPr>
      </p:pic>
      <p:sp>
        <p:nvSpPr>
          <p:cNvPr id="5" name="text-41"/>
          <p:cNvSpPr txBox="1"/>
          <p:nvPr/>
        </p:nvSpPr>
        <p:spPr>
          <a:xfrm>
            <a:off x="1845015" y="4507992"/>
            <a:ext cx="54539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붉은 선이 1 kHz tick. 느린 동작은 전부 이 펄스를 세서 만든다.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설계 원칙</a:t>
            </a:r>
            <a:endParaRPr lang="ko-KR" sz="2600" dirty="0"/>
          </a:p>
        </p:txBody>
      </p:sp>
      <p:sp>
        <p:nvSpPr>
          <p:cNvPr id="4" name="text-42"/>
          <p:cNvSpPr txBox="1"/>
          <p:nvPr/>
        </p:nvSpPr>
        <p:spPr>
          <a:xfrm>
            <a:off x="457200" y="132588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(1) 클럭은 하나</a:t>
            </a:r>
            <a:endParaRPr lang="ko-KR" sz="1400" dirty="0"/>
          </a:p>
          <a:p>
            <a:pPr algn="l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모든 플립플롭이 100 MHz clk 로 동작한다. 분주 클럭을 만들지 않고 1 kHz tick 을 enable 로 쓴다. 클럭 도메인이 하나라 타이밍 분석이 단순해진다.</a:t>
            </a:r>
            <a:endParaRPr lang="ko-KR" sz="1400" dirty="0"/>
          </a:p>
        </p:txBody>
      </p:sp>
      <p:sp>
        <p:nvSpPr>
          <p:cNvPr id="5" name="text-43"/>
          <p:cNvSpPr txBox="1"/>
          <p:nvPr/>
        </p:nvSpPr>
        <p:spPr>
          <a:xfrm>
            <a:off x="4846320" y="132588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(2) 시간은 tick 에서 파생</a:t>
            </a:r>
            <a:endParaRPr lang="ko-KR" sz="1400" dirty="0"/>
          </a:p>
          <a:p>
            <a:pPr algn="l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10 ms, 100 ms, 0.5 s, 1 s, 5 s 가 전부 tick 을 세는 카운터다. 카운터 폭이 20bit 에서 10~13bit 로 줄고, 테스트벤치에서는 파라미터만 줄이면 된다.</a:t>
            </a:r>
            <a:endParaRPr lang="ko-KR" sz="1400" dirty="0"/>
          </a:p>
        </p:txBody>
      </p:sp>
      <p:sp>
        <p:nvSpPr>
          <p:cNvPr id="6" name="text-44"/>
          <p:cNvSpPr txBox="1"/>
          <p:nvPr/>
        </p:nvSpPr>
        <p:spPr>
          <a:xfrm>
            <a:off x="457200" y="297180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(3) 비동기 입력은 펄스로 바꿔서 전달</a:t>
            </a:r>
            <a:endParaRPr lang="ko-KR" sz="1400" dirty="0"/>
          </a:p>
          <a:p>
            <a:pPr algn="l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버튼은 2단 FF 동기화 → 10 ms 디바운스 → 엣지 검출을 거쳐 1클럭 펄스가 된다. FSM 은 펄스만 본다.</a:t>
            </a:r>
            <a:endParaRPr lang="ko-KR" sz="1400" dirty="0"/>
          </a:p>
        </p:txBody>
      </p:sp>
      <p:sp>
        <p:nvSpPr>
          <p:cNvPr id="7" name="text-45"/>
          <p:cNvSpPr txBox="1"/>
          <p:nvPr/>
        </p:nvSpPr>
        <p:spPr>
          <a:xfrm>
            <a:off x="4846320" y="297180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(4) 표시 모듈은 숫자의 의미를 모른다</a:t>
            </a:r>
            <a:endParaRPr lang="ko-KR" sz="1400" dirty="0"/>
          </a:p>
          <a:p>
            <a:pPr algn="l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fnd_controller 는 BCD 4자리, dp 4비트, 애니메이션 패턴만 받는다. 모드별 해석은 display_mux 가 한다.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시간은 tick 에서 파생</a:t>
            </a:r>
            <a:endParaRPr lang="ko-KR" sz="2600" dirty="0"/>
          </a:p>
        </p:txBody>
      </p:sp>
      <p:pic>
        <p:nvPicPr>
          <p:cNvPr id="3" name="tick_hierarchy-46" descr="tick_hierarch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631" y="1143000"/>
            <a:ext cx="7238739" cy="3520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스톱워치 상태도</a:t>
            </a:r>
            <a:endParaRPr lang="ko-KR" sz="2600" dirty="0"/>
          </a:p>
        </p:txBody>
      </p:sp>
      <p:pic>
        <p:nvPicPr>
          <p:cNvPr id="4" name="fsm_stopwatch-47" descr="fsm_stopwa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91422" cy="3520440"/>
          </a:xfrm>
          <a:prstGeom prst="rect">
            <a:avLst/>
          </a:prstGeom>
        </p:spPr>
      </p:pic>
      <p:graphicFrame>
        <p:nvGraphicFramePr>
          <p:cNvPr id="9" name="table-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43000"/>
          <a:ext cx="3858768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896112"/>
                <a:gridCol w="566928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chemeClr val="tx1"/>
                          </a:solidFill>
                        </a:rPr>
                        <a:t>현재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chemeClr val="tx1"/>
                          </a:solidFill>
                        </a:rPr>
                        <a:t>조건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chemeClr val="tx1"/>
                          </a:solidFill>
                        </a:rPr>
                        <a:t>다음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chemeClr val="tx1"/>
                          </a:solidFill>
                        </a:rPr>
                        <a:t>동작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STOP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btnC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RUN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카운트 시작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STOP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btnR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STOP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00:00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STOP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5초 무입력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ANIM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세그먼트 a 부터 회전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RUN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btnC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STOP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값 유지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RUN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btnR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RUN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무시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ANIM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btnC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RUN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애니메이션 중지, 바로 카운트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ANIM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btnR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STOP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애니메이션 중지, 00:00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ANIM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모드 이탈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STOP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애니메이션 중지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RUN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모드 이탈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RUN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뒤에서 계속 카운트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버튼이 FSM 에 도착하기까지</a:t>
            </a:r>
            <a:endParaRPr lang="ko-KR" sz="2600" dirty="0"/>
          </a:p>
        </p:txBody>
      </p:sp>
      <p:pic>
        <p:nvPicPr>
          <p:cNvPr id="4" name="input_chain-49" descr="input_ch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78" y="1097280"/>
            <a:ext cx="5638643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버튼이 FSM 에 도착하기까지</a:t>
            </a:r>
            <a:endParaRPr lang="ko-KR" sz="2600" dirty="0"/>
          </a:p>
        </p:txBody>
      </p:sp>
      <p:sp>
        <p:nvSpPr>
          <p:cNvPr id="3" name="text-50"/>
          <p:cNvSpPr txBox="1"/>
          <p:nvPr/>
        </p:nvSpPr>
        <p:spPr>
          <a:xfrm>
            <a:off x="45720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debouncer.v (발췌)</a:t>
            </a:r>
            <a:endParaRPr lang="ko-KR" sz="1100" dirty="0"/>
          </a:p>
        </p:txBody>
      </p:sp>
      <p:sp>
        <p:nvSpPr>
          <p:cNvPr id="4" name="code-51"/>
          <p:cNvSpPr txBox="1"/>
          <p:nvPr/>
        </p:nvSpPr>
        <p:spPr>
          <a:xfrm>
            <a:off x="457200" y="1325880"/>
            <a:ext cx="5852160" cy="193852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9728" tIns="109728" rIns="109728" bIns="109728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 ASYNC_REG = "TRUE" *) reg btn_meta;</a:t>
            </a:r>
            <a:endParaRPr lang="ko-KR" sz="1100" dirty="0"/>
          </a:p>
          <a:p>
            <a:pPr algn="l" indent="0" marL="0">
              <a:lnSpc>
                <a:spcPts val="1200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 ASYNC_REG = "TRUE" *) reg btn_sync;</a:t>
            </a:r>
            <a:endParaRPr lang="ko-KR" sz="1100" dirty="0"/>
          </a:p>
          <a:p>
            <a:pPr algn="l" indent="0" marL="0">
              <a:lnSpc>
                <a:spcPts val="1200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@(posedge clk, posedge reset) begin</a:t>
            </a:r>
            <a:endParaRPr lang="ko-KR" sz="1100" dirty="0"/>
          </a:p>
          <a:p>
            <a:pPr algn="l" indent="0" marL="0">
              <a:lnSpc>
                <a:spcPts val="1200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if (reset) begin btn_meta &lt;= 0; btn_sync &lt;= 0; end</a:t>
            </a:r>
            <a:endParaRPr lang="ko-KR" sz="1100" dirty="0"/>
          </a:p>
          <a:p>
            <a:pPr algn="l" indent="0" marL="0">
              <a:lnSpc>
                <a:spcPts val="1200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else begin btn_meta &lt;= noisy_btn; btn_sync &lt;= btn_meta; end</a:t>
            </a:r>
            <a:endParaRPr lang="ko-KR" sz="1100" dirty="0"/>
          </a:p>
          <a:p>
            <a:pPr algn="l" indent="0" marL="0">
              <a:lnSpc>
                <a:spcPts val="1200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ko-KR" sz="1100" dirty="0"/>
          </a:p>
          <a:p>
            <a:pPr algn="l" indent="0" marL="0">
              <a:lnSpc>
                <a:spcPts val="1200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ko-KR" sz="1100" dirty="0"/>
          </a:p>
          <a:p>
            <a:pPr algn="l" indent="0" marL="0">
              <a:lnSpc>
                <a:spcPts val="1200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(btn_sync == clean_btn)      r_count &lt;= 0;</a:t>
            </a:r>
            <a:endParaRPr lang="ko-KR" sz="1100" dirty="0"/>
          </a:p>
          <a:p>
            <a:pPr algn="l" indent="0" marL="0">
              <a:lnSpc>
                <a:spcPts val="1200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(r_count &lt; DEBOUNCE_LIMIT) r_count &lt;= r_count + 1;</a:t>
            </a:r>
            <a:endParaRPr lang="ko-KR" sz="1100" dirty="0"/>
          </a:p>
          <a:p>
            <a:pPr algn="l" indent="0" marL="0">
              <a:lnSpc>
                <a:spcPts val="1200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begin clean_btn &lt;= btn_sync; r_count &lt;= 0; end</a:t>
            </a:r>
            <a:endParaRPr lang="ko-KR" sz="1100" dirty="0"/>
          </a:p>
        </p:txBody>
      </p:sp>
      <p:sp>
        <p:nvSpPr>
          <p:cNvPr id="5" name="text-52"/>
          <p:cNvSpPr txBox="1"/>
          <p:nvPr/>
        </p:nvSpPr>
        <p:spPr>
          <a:xfrm>
            <a:off x="457200" y="3355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edge_detector.v</a:t>
            </a:r>
            <a:endParaRPr lang="ko-KR" sz="1100" dirty="0"/>
          </a:p>
        </p:txBody>
      </p:sp>
      <p:sp>
        <p:nvSpPr>
          <p:cNvPr id="6" name="code-53"/>
          <p:cNvSpPr txBox="1"/>
          <p:nvPr/>
        </p:nvSpPr>
        <p:spPr>
          <a:xfrm>
            <a:off x="457200" y="3584448"/>
            <a:ext cx="3566160" cy="1152144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9728" tIns="109728" rIns="109728" bIns="109728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 level_d;</a:t>
            </a:r>
            <a:endParaRPr lang="ko-KR" sz="1100" dirty="0"/>
          </a:p>
          <a:p>
            <a:pPr algn="l" indent="0" marL="0">
              <a:lnSpc>
                <a:spcPts val="1200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@(posedge clk, posedge reset)</a:t>
            </a:r>
            <a:endParaRPr lang="ko-KR" sz="1100" dirty="0"/>
          </a:p>
          <a:p>
            <a:pPr algn="l" indent="0" marL="0">
              <a:lnSpc>
                <a:spcPts val="1200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if (reset) level_d &lt;= 1'b0;</a:t>
            </a:r>
            <a:endParaRPr lang="ko-KR" sz="1100" dirty="0"/>
          </a:p>
          <a:p>
            <a:pPr algn="l" indent="0" marL="0">
              <a:lnSpc>
                <a:spcPts val="1200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else       level_d &lt;= level;</a:t>
            </a:r>
            <a:endParaRPr lang="ko-KR" sz="1100" dirty="0"/>
          </a:p>
          <a:p>
            <a:pPr algn="l" indent="0" marL="0">
              <a:lnSpc>
                <a:spcPts val="1200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ko-KR" sz="1100" dirty="0"/>
          </a:p>
          <a:p>
            <a:pPr algn="l" indent="0" marL="0">
              <a:lnSpc>
                <a:spcPts val="1200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 pulse = level &amp; ~level_d;</a:t>
            </a:r>
            <a:endParaRPr lang="ko-KR" sz="1100" dirty="0"/>
          </a:p>
        </p:txBody>
      </p:sp>
      <p:sp>
        <p:nvSpPr>
          <p:cNvPr id="7" name="text-54"/>
          <p:cNvSpPr txBox="1"/>
          <p:nvPr/>
        </p:nvSpPr>
        <p:spPr>
          <a:xfrm>
            <a:off x="4343400" y="358444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clean_btn 이 레지스터 출력이라 pulse 는 글리치 없이 정확히 1클럭.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BCD 로 직접 세는 MM:SS</a:t>
            </a:r>
            <a:endParaRPr lang="ko-KR" sz="2600" dirty="0"/>
          </a:p>
        </p:txBody>
      </p:sp>
      <p:sp>
        <p:nvSpPr>
          <p:cNvPr id="4" name="code-55"/>
          <p:cNvSpPr txBox="1"/>
          <p:nvPr/>
        </p:nvSpPr>
        <p:spPr>
          <a:xfrm>
            <a:off x="457200" y="1097280"/>
            <a:ext cx="6675120" cy="34747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9728" tIns="109728" rIns="109728" bIns="109728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(state == S_RUN &amp;&amp; tick) begin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if (ms_cnt == TICKS_PER_SEC - 1) begin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ms_cnt &lt;= 0;                 // 랩과 초 증가가 같은 클럭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if (sec_ones == 4'd9) begin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sec_ones &lt;= 4'd0;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if (sec_tens == 4'd5) begin   // 59초 → 00초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sec_tens &lt;= 4'd0;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if (min_ones == 4'd9) begin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min_ones &lt;= 4'd0;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min_tens &lt;= (min_tens == 4'd9) ? 4'd0 : min_tens + 4'd1;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end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else min_ones &lt;= min_ones + 4'd1;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end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else sec_tens &lt;= sec_tens + 4'd1;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end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else sec_ones &lt;= sec_ones + 4'd1;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end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else ms_cnt &lt;= ms_cnt + 1'b1;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BCD 로 직접 세는 MM:SS</a:t>
            </a:r>
            <a:endParaRPr lang="ko-KR" sz="2600" dirty="0"/>
          </a:p>
        </p:txBody>
      </p:sp>
      <p:sp>
        <p:nvSpPr>
          <p:cNvPr id="3" name="text-56"/>
          <p:cNvSpPr txBox="1"/>
          <p:nvPr/>
        </p:nvSpPr>
        <p:spPr>
          <a:xfrm>
            <a:off x="457200" y="1188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자리마다 9→0, 5→0 을 직접 처리한다. 2진수로 세고 나누는 방식과 달리 표시 쪽에 나눗셈 회로가 없다.</a:t>
            </a:r>
            <a:endParaRPr lang="ko-KR" sz="14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dot 는 같은 카운터에서 나온다: RUN 일 때 ms_cnt &lt; 500 이면 켜짐.</a:t>
            </a:r>
            <a:endParaRPr lang="ko-KR" sz="14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99:59 다음은 00:00.</a:t>
            </a:r>
            <a:endParaRPr lang="ko-KR" sz="1400" dirty="0"/>
          </a:p>
        </p:txBody>
      </p:sp>
      <p:sp>
        <p:nvSpPr>
          <p:cNvPr id="4" name="code-57"/>
          <p:cNvSpPr txBox="1"/>
          <p:nvPr/>
        </p:nvSpPr>
        <p:spPr>
          <a:xfrm>
            <a:off x="457200" y="2651760"/>
            <a:ext cx="5120640" cy="5212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9728" tIns="109728" rIns="109728" bIns="109728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 dot = (state == S_RUN) ? (ms_cnt &lt; TICKS_PER_SEC/2)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: (state == S_STOP);</a:t>
            </a:r>
            <a:endParaRPr lang="ko-KR" sz="1050" dirty="0"/>
          </a:p>
        </p:txBody>
      </p:sp>
      <p:graphicFrame>
        <p:nvGraphicFramePr>
          <p:cNvPr id="13" name="table-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0584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min_tens</a:t>
                      </a:r>
                      <a:endParaRPr lang="ko-KR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min_ones</a:t>
                      </a:r>
                      <a:endParaRPr lang="ko-KR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sec_tens</a:t>
                      </a:r>
                      <a:endParaRPr lang="ko-KR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sec_ones</a:t>
                      </a:r>
                      <a:endParaRPr lang="ko-KR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범위</a:t>
                      </a:r>
                      <a:endParaRPr lang="ko-KR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0~9</a:t>
                      </a:r>
                      <a:endParaRPr lang="ko-KR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0~9</a:t>
                      </a:r>
                      <a:endParaRPr lang="ko-KR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0~5</a:t>
                      </a:r>
                      <a:endParaRPr lang="ko-KR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0~9</a:t>
                      </a:r>
                      <a:endParaRPr lang="ko-KR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올림 조건</a:t>
                      </a:r>
                      <a:endParaRPr lang="ko-KR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-59"/>
          <p:cNvSpPr txBox="1"/>
          <p:nvPr/>
        </p:nvSpPr>
        <p:spPr>
          <a:xfrm>
            <a:off x="457200" y="44439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각 자리가 자기 최대값에서 0 으로 돌아가며 윗자리에 +1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5초 무입력 판정과 circle 회전</a:t>
            </a:r>
            <a:endParaRPr lang="ko-KR" sz="2600" dirty="0"/>
          </a:p>
        </p:txBody>
      </p:sp>
      <p:sp>
        <p:nvSpPr>
          <p:cNvPr id="4" name="code-60"/>
          <p:cNvSpPr txBox="1"/>
          <p:nvPr/>
        </p:nvSpPr>
        <p:spPr>
          <a:xfrm>
            <a:off x="457200" y="1097280"/>
            <a:ext cx="6949440" cy="1426464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9728" tIns="109728" rIns="109728" bIns="109728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 any_pulse = btn_run | btn_clear | btn_other;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 idle_done = active &amp;&amp; (state == S_STOP) &amp;&amp; tick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&amp;&amp; !any_pulse &amp;&amp; (idle_cnt == IDLE_TICKS - 1);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@(posedge clk, posedge reset)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if (reset)                                   idle_cnt &lt;= 0;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else if (state != S_STOP || !active || any_pulse) idle_cnt &lt;= 0;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else if (tick) idle_cnt &lt;= (idle_cnt == IDLE_TICKS-1) ? 0 : idle_cnt + 1;</a:t>
            </a:r>
            <a:endParaRPr lang="ko-KR" sz="1050" dirty="0"/>
          </a:p>
        </p:txBody>
      </p:sp>
      <p:sp>
        <p:nvSpPr>
          <p:cNvPr id="5" name="code-61"/>
          <p:cNvSpPr txBox="1"/>
          <p:nvPr/>
        </p:nvSpPr>
        <p:spPr>
          <a:xfrm>
            <a:off x="457200" y="2697480"/>
            <a:ext cx="6949440" cy="171907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9728" tIns="109728" rIns="109728" bIns="109728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(state != S_ANIM) begin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anim_cnt &lt;= 0;  anim_idx &lt;= 3'd0;   // 진입 시 항상 a 부터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(tick) begin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if (anim_cnt == ANIM_STEP_TICKS - 1) begin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anim_cnt &lt;= 0;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anim_idx &lt;= (anim_idx == 3'd5) ? 3'd0 : anim_idx + 3'd1;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end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else anim_cnt &lt;= anim_cnt + 1'b1;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ko-KR" sz="1050" dirty="0"/>
          </a:p>
          <a:p>
            <a:pPr algn="l" indent="0" marL="0">
              <a:lnSpc>
                <a:spcPts val="115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 anim_seg = 7'b000_0001 &lt;&lt; anim_idx;   // idx 0~5 → g 는 안 켜짐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5초 무입력 판정과 circle 회전</a:t>
            </a:r>
            <a:endParaRPr lang="ko-KR" sz="2600" dirty="0"/>
          </a:p>
        </p:txBody>
      </p:sp>
      <p:pic>
        <p:nvPicPr>
          <p:cNvPr id="3" name="seg_dot-62" descr="seg_d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385" y="1115568"/>
            <a:ext cx="6075230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시뮬레이션을 수 ms 안에 끝내는 방법</a:t>
            </a:r>
            <a:endParaRPr lang="ko-KR" sz="2600" dirty="0"/>
          </a:p>
        </p:txBody>
      </p:sp>
      <p:sp>
        <p:nvSpPr>
          <p:cNvPr id="4" name="text-63"/>
          <p:cNvSpPr txBox="1"/>
          <p:nvPr/>
        </p:nvSpPr>
        <p:spPr>
          <a:xfrm>
            <a:off x="457200" y="10972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모든 시간 상수를 파라미터로 빼서 테스트벤치에서 줄였다. 실제 보드 값과 시뮬 값의 비율만 다르고 로직은 같다.</a:t>
            </a:r>
            <a:endParaRPr lang="ko-KR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각 TB 는 check 태스크로 PASS/FAIL 을 스스로 판정하고 마지막에 </a:t>
            </a:r>
            <a:pPr algn="l" indent="0" marL="0">
              <a:spcAft>
                <a:spcPts val="400"/>
              </a:spcAft>
              <a:buNone/>
            </a:pPr>
            <a:r>
              <a:rPr lang="ko-KR" alt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tb_xxx: N errors ===</a:t>
            </a:r>
            <a:pPr algn="l" indent="0" marL="0">
              <a:spcAft>
                <a:spcPts val="400"/>
              </a:spcAft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 를 찍는다.</a:t>
            </a:r>
            <a:endParaRPr lang="ko-KR" sz="1300" dirty="0"/>
          </a:p>
        </p:txBody>
      </p:sp>
      <p:graphicFrame>
        <p:nvGraphicFramePr>
          <p:cNvPr id="16" name="table-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737360"/>
                <a:gridCol w="21488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chemeClr val="tx1"/>
                          </a:solidFill>
                        </a:rPr>
                        <a:t>TB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chemeClr val="tx1"/>
                          </a:solidFill>
                        </a:rPr>
                        <a:t>대상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chemeClr val="tx1"/>
                          </a:solidFill>
                        </a:rPr>
                        <a:t>축소 파라미터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chemeClr val="tx1"/>
                          </a:solidFill>
                        </a:rPr>
                        <a:t>확인 항목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tb_debouncer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debouncer + edge_detector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LIMIT 999,999 → 20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채터링 제거, 펄스 폭 1클럭, 지연 LIMIT+3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tb_tick_generator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tick_generator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100,000 → 10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주기, 펄스 폭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tb_stopwatch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stopwatch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1초=10 tick, idle 2초, anim 2 tick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59→00, 99:59→00:00, STOP→ANIM→RUN, dot, clear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tb_fnd_controller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fnd_controller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tick 직접 인가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an 순서, 디코드, dp 위치, anim override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tb_top_stopwatch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전체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디바운스 20, tick 10클럭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모드 순환, 시작/정지/클리어 전체 흐름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placeholder-65"/>
          <p:cNvSpPr txBox="1"/>
          <p:nvPr/>
        </p:nvSpPr>
        <p:spPr>
          <a:xfrm>
            <a:off x="457200" y="4334256"/>
            <a:ext cx="6400800" cy="347472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wrap="square" lIns="101600" tIns="38100" rIns="38100" bIns="10160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chemeClr val="accent1"/>
                </a:solidFill>
              </a:rPr>
              <a:t>{{Vivado xsim 콘솔 캡처: "=== tb_stopwatch: 0 errors ===" 가 보이는 화면}}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ms_cnt 랩과 sec_ones 증가는 같은 엣지</a:t>
            </a:r>
            <a:endParaRPr lang="ko-KR" sz="2600" dirty="0"/>
          </a:p>
        </p:txBody>
      </p:sp>
      <p:pic>
        <p:nvPicPr>
          <p:cNvPr id="4" name="wave_sec_dot-66" descr="wave_sec_d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303028" cy="2926080"/>
          </a:xfrm>
          <a:prstGeom prst="rect">
            <a:avLst/>
          </a:prstGeom>
        </p:spPr>
      </p:pic>
      <p:sp>
        <p:nvSpPr>
          <p:cNvPr id="5" name="text-67"/>
          <p:cNvSpPr txBox="1"/>
          <p:nvPr/>
        </p:nvSpPr>
        <p:spPr>
          <a:xfrm>
            <a:off x="457200" y="41605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tick 이 들어온 클럭에서 ms_cnt 가 999→0 이 되고 같은 엣지에 sec_ones 가 +1. dot 는 ms_cnt &lt; 500 구간에서만 1.</a:t>
            </a:r>
            <a:endParaRPr lang="ko-KR" sz="1100" dirty="0"/>
          </a:p>
        </p:txBody>
      </p:sp>
      <p:sp>
        <p:nvSpPr>
          <p:cNvPr id="6" name="placeholder-68"/>
          <p:cNvSpPr txBox="1"/>
          <p:nvPr/>
        </p:nvSpPr>
        <p:spPr>
          <a:xfrm>
            <a:off x="5852160" y="4160520"/>
            <a:ext cx="2834640" cy="329184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wrap="square" lIns="101600" tIns="38100" rIns="38100" bIns="10160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chemeClr val="accent1"/>
                </a:solidFill>
              </a:rPr>
              <a:t>{{실제 xsim 파형 캡처로 교체}}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noisy_btn 에서 pulse 까지</a:t>
            </a:r>
            <a:endParaRPr lang="ko-KR" sz="2600" dirty="0"/>
          </a:p>
        </p:txBody>
      </p:sp>
      <p:pic>
        <p:nvPicPr>
          <p:cNvPr id="4" name="wave_button_chain-69" descr="wave_button_ch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721470" cy="2926080"/>
          </a:xfrm>
          <a:prstGeom prst="rect">
            <a:avLst/>
          </a:prstGeom>
        </p:spPr>
      </p:pic>
      <p:sp>
        <p:nvSpPr>
          <p:cNvPr id="5" name="text-70"/>
          <p:cNvSpPr txBox="1"/>
          <p:nvPr/>
        </p:nvSpPr>
        <p:spPr>
          <a:xfrm>
            <a:off x="457200" y="41605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채터링 구간에서는 r_count 가 0 으로 되돌아가고, LIMIT 클럭 안정된 뒤 clean_btn 이 바뀐다. pulse 는 그 엣지에서 1클럭.</a:t>
            </a:r>
            <a:endParaRPr lang="ko-KR" sz="1100" dirty="0"/>
          </a:p>
        </p:txBody>
      </p:sp>
      <p:sp>
        <p:nvSpPr>
          <p:cNvPr id="6" name="placeholder-71"/>
          <p:cNvSpPr txBox="1"/>
          <p:nvPr/>
        </p:nvSpPr>
        <p:spPr>
          <a:xfrm>
            <a:off x="5852160" y="4160520"/>
            <a:ext cx="2834640" cy="329184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wrap="square" lIns="101600" tIns="38100" rIns="38100" bIns="10160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chemeClr val="accent1"/>
                </a:solidFill>
              </a:rPr>
              <a:t>{{실제 xsim 파형 캡처로 교체}}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5초 타임아웃과 애니메이션 회전</a:t>
            </a:r>
            <a:endParaRPr lang="ko-KR" sz="2600" dirty="0"/>
          </a:p>
        </p:txBody>
      </p:sp>
      <p:pic>
        <p:nvPicPr>
          <p:cNvPr id="4" name="wave_anim-72" descr="wave_an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050795" cy="2926080"/>
          </a:xfrm>
          <a:prstGeom prst="rect">
            <a:avLst/>
          </a:prstGeom>
        </p:spPr>
      </p:pic>
      <p:sp>
        <p:nvSpPr>
          <p:cNvPr id="5" name="text-73"/>
          <p:cNvSpPr txBox="1"/>
          <p:nvPr/>
        </p:nvSpPr>
        <p:spPr>
          <a:xfrm>
            <a:off x="457200" y="41605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idle_cnt 가 4999 에서 tick 을 받는 클럭에 state 가 ANIM 으로. anim_seg 는 100 ms 마다 01→02→04→08→10→20. btn_run 펄스에 바로 RUN.</a:t>
            </a:r>
            <a:endParaRPr lang="ko-KR" sz="1100" dirty="0"/>
          </a:p>
        </p:txBody>
      </p:sp>
      <p:sp>
        <p:nvSpPr>
          <p:cNvPr id="6" name="placeholder-74"/>
          <p:cNvSpPr txBox="1"/>
          <p:nvPr/>
        </p:nvSpPr>
        <p:spPr>
          <a:xfrm>
            <a:off x="5852160" y="4160520"/>
            <a:ext cx="2834640" cy="329184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wrap="square" lIns="101600" tIns="38100" rIns="38100" bIns="10160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chemeClr val="accent1"/>
                </a:solidFill>
              </a:rPr>
              <a:t>{{실제 xsim 파형 캡처로 교체}}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보드 동작</a:t>
            </a:r>
            <a:endParaRPr lang="ko-KR" sz="2600" dirty="0"/>
          </a:p>
        </p:txBody>
      </p:sp>
      <p:sp>
        <p:nvSpPr>
          <p:cNvPr id="4" name="video-75"/>
          <p:cNvSpPr/>
          <p:nvPr/>
        </p:nvSpPr>
        <p:spPr>
          <a:xfrm>
            <a:off x="457200" y="1143000"/>
            <a:ext cx="5120640" cy="2880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placeholder-76"/>
          <p:cNvSpPr txBox="1"/>
          <p:nvPr/>
        </p:nvSpPr>
        <p:spPr>
          <a:xfrm>
            <a:off x="1554480" y="2391156"/>
            <a:ext cx="2926080" cy="384048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wrap="square" lIns="101600" tIns="38100" rIns="38100" bIns="10160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chemeClr val="accent1"/>
                </a:solidFill>
              </a:rPr>
              <a:t>{{동영상 삽입 또는 링크/QR}}</a:t>
            </a:r>
            <a:endParaRPr lang="ko-KR" sz="1200" dirty="0"/>
          </a:p>
        </p:txBody>
      </p:sp>
      <p:sp>
        <p:nvSpPr>
          <p:cNvPr id="6" name="text-77"/>
          <p:cNvSpPr txBox="1"/>
          <p:nvPr/>
        </p:nvSpPr>
        <p:spPr>
          <a:xfrm>
            <a:off x="5897880" y="1143000"/>
            <a:ext cx="2788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ko-KR" altLang="en-US" sz="1300" dirty="0">
                <a:solidFill>
                  <a:schemeClr val="tx1"/>
                </a:solidFill>
              </a:rPr>
              <a:t>btnL 4번 → led[15:13] = 100</a:t>
            </a:r>
            <a:endParaRPr lang="ko-KR" sz="1300" dirty="0"/>
          </a:p>
          <a:p>
            <a:pPr algn="l" marL="228600" indent="-228600">
              <a:spcAft>
                <a:spcPts val="900"/>
              </a:spcAft>
              <a:buSzPct val="100000"/>
              <a:buFont typeface="+mj-lt"/>
              <a:buAutoNum type="arabicPeriod" startAt="2"/>
            </a:pPr>
            <a:r>
              <a:rPr lang="ko-KR" altLang="en-US" sz="1300" dirty="0">
                <a:solidFill>
                  <a:schemeClr val="tx1"/>
                </a:solidFill>
              </a:rPr>
              <a:t>btnC → 카운트 시작, dot 깜박임</a:t>
            </a:r>
            <a:endParaRPr lang="ko-KR" sz="1300" dirty="0"/>
          </a:p>
          <a:p>
            <a:pPr algn="l" marL="228600" indent="-228600">
              <a:spcAft>
                <a:spcPts val="900"/>
              </a:spcAft>
              <a:buSzPct val="100000"/>
              <a:buFont typeface="+mj-lt"/>
              <a:buAutoNum type="arabicPeriod" startAt="3"/>
            </a:pPr>
            <a:r>
              <a:rPr lang="ko-KR" altLang="en-US" sz="1300" dirty="0">
                <a:solidFill>
                  <a:schemeClr val="tx1"/>
                </a:solidFill>
              </a:rPr>
              <a:t>btnC → 정지, dot 켜진 채 유지</a:t>
            </a:r>
            <a:endParaRPr lang="ko-KR" sz="1300" dirty="0"/>
          </a:p>
          <a:p>
            <a:pPr algn="l" marL="228600" indent="-228600">
              <a:spcAft>
                <a:spcPts val="900"/>
              </a:spcAft>
              <a:buSzPct val="100000"/>
              <a:buFont typeface="+mj-lt"/>
              <a:buAutoNum type="arabicPeriod" startAt="4"/>
            </a:pPr>
            <a:r>
              <a:rPr lang="ko-KR" altLang="en-US" sz="1300" dirty="0">
                <a:solidFill>
                  <a:schemeClr val="tx1"/>
                </a:solidFill>
              </a:rPr>
              <a:t>5초 대기 → 바깥 테두리 회전</a:t>
            </a:r>
            <a:endParaRPr lang="ko-KR" sz="1300" dirty="0"/>
          </a:p>
          <a:p>
            <a:pPr algn="l" marL="228600" indent="-228600">
              <a:spcAft>
                <a:spcPts val="900"/>
              </a:spcAft>
              <a:buSzPct val="100000"/>
              <a:buFont typeface="+mj-lt"/>
              <a:buAutoNum type="arabicPeriod" startAt="5"/>
            </a:pPr>
            <a:r>
              <a:rPr lang="ko-KR" altLang="en-US" sz="1300" dirty="0">
                <a:solidFill>
                  <a:schemeClr val="tx1"/>
                </a:solidFill>
              </a:rPr>
              <a:t>btnC → 애니메이션 중지, 바로 재개</a:t>
            </a:r>
            <a:endParaRPr lang="ko-KR" sz="1300" dirty="0"/>
          </a:p>
          <a:p>
            <a:pPr algn="l" marL="228600" indent="-228600">
              <a:spcAft>
                <a:spcPts val="900"/>
              </a:spcAft>
              <a:buSzPct val="100000"/>
              <a:buFont typeface="+mj-lt"/>
              <a:buAutoNum type="arabicPeriod" startAt="6"/>
            </a:pPr>
            <a:r>
              <a:rPr lang="ko-KR" altLang="en-US" sz="1300" dirty="0">
                <a:solidFill>
                  <a:schemeClr val="tx1"/>
                </a:solidFill>
              </a:rPr>
              <a:t>btnR (정지 중) → 00.00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막혔던 것과 고친 것</a:t>
            </a:r>
            <a:endParaRPr lang="ko-KR" sz="2600" dirty="0"/>
          </a:p>
        </p:txBody>
      </p:sp>
      <p:graphicFrame>
        <p:nvGraphicFramePr>
          <p:cNvPr id="21" name="table-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29000"/>
                <a:gridCol w="2788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chemeClr val="tx1"/>
                          </a:solidFill>
                        </a:rPr>
                        <a:t>문제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chemeClr val="tx1"/>
                          </a:solidFill>
                        </a:rPr>
                        <a:t>원인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chemeClr val="tx1"/>
                          </a:solidFill>
                        </a:rPr>
                        <a:t>조치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레퍼런스 top 이 합성되지 않음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top 이 부르는 btn_debouncer(3비트) 가 파일에 없고, main_controller 에 없는 tick 포트를 연결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btn_debouncer 를 generate 로 신설, 포트 정리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모드가 가끔 두 칸씩 넘어감 (레퍼런스)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r_mode 에 블로킹 대입, 이전 버튼값 갱신이 reset 분기 밖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엣지 검출을 별도 모듈로, 모든 순차 블록을 비블로킹 + reset 분기 안으로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시뮬과 합성 결과가 다를 수 있는 코드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always @(r_mode), always @(bcd_data) 같은 불완전 감도리스트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전부 always @(*)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LED 비트 겹침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led[15:13] 이 모드인데 카운터를 led[13:0] 에 쓰려 함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카운터는 led[12:0]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초 중간에 정지 후 클리어하면 재시작이 빨라질 가능성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ms_cnt 를 클리어에서 안 지우면 남은 값만큼 먼저 초가 올라감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</a:rPr>
                        <a:t>클리어에서 ms_cnt 도 0, TB 에 케이스 추가</a:t>
                      </a:r>
                      <a:endParaRPr lang="ko-KR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-79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리셋(btnU) 해제 동기화와 bin2bcd 경로 타이밍은 아직 확인 못 했다. Timing Summary 의 WNS 를 보고 판단할 예정.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하고 나서 남은 것</a:t>
            </a:r>
            <a:endParaRPr lang="ko-KR" sz="2600" dirty="0"/>
          </a:p>
        </p:txBody>
      </p:sp>
      <p:sp>
        <p:nvSpPr>
          <p:cNvPr id="4" name="text-80"/>
          <p:cNvSpPr txBox="1"/>
          <p:nvPr/>
        </p:nvSpPr>
        <p:spPr>
          <a:xfrm>
            <a:off x="457200" y="1188720"/>
            <a:ext cx="7772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설계 문서를 먼저 쓰고 코드를 나중에 썼다. 모듈 포트와 FSM 표를 문서에서 확정하고 나니 코드는 옮겨 적는 일에 가까웠고, 테스트벤치도 표를 보고 그대로 만들 수 있었다.</a:t>
            </a:r>
            <a:endParaRPr lang="ko-KR" sz="14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tick 하나로 모든 시간을 만드는 구조는 처음엔 돌아가는 길처럼 보였는데, 테스트벤치를 쓸 때 가장 득을 봤다. 파라미터 하나 바꾸면 5초가 20 tick 이 된다.</a:t>
            </a:r>
            <a:endParaRPr lang="ko-KR" sz="14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아쉬운 점은 시뮬레이터 없는 환경에서 코드를 먼저 썼다는 것. 리뷰로 사이클 수까지 맞춰봤지만 결국 파형을 보기 전까지는 확신할 수 없었다.</a:t>
            </a:r>
            <a:endParaRPr lang="ko-KR" sz="1400" dirty="0"/>
          </a:p>
        </p:txBody>
      </p:sp>
      <p:sp>
        <p:nvSpPr>
          <p:cNvPr id="5" name="placeholder-81"/>
          <p:cNvSpPr txBox="1"/>
          <p:nvPr/>
        </p:nvSpPr>
        <p:spPr>
          <a:xfrm>
            <a:off x="457200" y="3977640"/>
            <a:ext cx="3291840" cy="347472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wrap="square" lIns="101600" tIns="38100" rIns="38100" bIns="10160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chemeClr val="accent1"/>
                </a:solidFill>
              </a:rPr>
              <a:t>{{Vivado 결과 반영 후 이 문단 수정}}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3258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chemeClr val="bg1"/>
                </a:solidFill>
              </a:rPr>
              <a:t>Background</a:t>
            </a:r>
            <a:endParaRPr lang="ko-KR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697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setup / hold time · Metastability · Glitch · Fan-out</a:t>
            </a:r>
            <a:endParaRPr lang="ko-KR" sz="1400" dirty="0"/>
          </a:p>
        </p:txBody>
      </p:sp>
      <p:sp>
        <p:nvSpPr>
          <p:cNvPr id="4" name="text-82"/>
          <p:cNvSpPr txBox="1"/>
          <p:nvPr/>
        </p:nvSpPr>
        <p:spPr>
          <a:xfrm>
            <a:off x="457200" y="4069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</a:rPr>
              <a:t>이 설계의 어느 줄과 연결되는지와 함께</a:t>
            </a:r>
            <a:endParaRPr lang="ko-KR" sz="1300" dirty="0"/>
          </a:p>
        </p:txBody>
      </p:sp>
      <p:sp>
        <p:nvSpPr>
          <p:cNvPr id="5" name="seg-83"/>
          <p:cNvSpPr/>
          <p:nvPr/>
        </p:nvSpPr>
        <p:spPr>
          <a:xfrm>
            <a:off x="5289804" y="1890522"/>
            <a:ext cx="539496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6" name="seg-84"/>
          <p:cNvSpPr/>
          <p:nvPr/>
        </p:nvSpPr>
        <p:spPr>
          <a:xfrm rot="5400000">
            <a:off x="5582412" y="2201418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7" name="seg-85"/>
          <p:cNvSpPr/>
          <p:nvPr/>
        </p:nvSpPr>
        <p:spPr>
          <a:xfrm rot="5400000">
            <a:off x="5582412" y="2823210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8" name="seg-86"/>
          <p:cNvSpPr/>
          <p:nvPr/>
        </p:nvSpPr>
        <p:spPr>
          <a:xfrm>
            <a:off x="5289804" y="3134106"/>
            <a:ext cx="539496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9" name="seg-87"/>
          <p:cNvSpPr/>
          <p:nvPr/>
        </p:nvSpPr>
        <p:spPr>
          <a:xfrm rot="5400000">
            <a:off x="4978908" y="2823210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10" name="seg-88"/>
          <p:cNvSpPr/>
          <p:nvPr/>
        </p:nvSpPr>
        <p:spPr>
          <a:xfrm rot="5400000">
            <a:off x="4978908" y="2201418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11" name="seg-89"/>
          <p:cNvSpPr/>
          <p:nvPr/>
        </p:nvSpPr>
        <p:spPr>
          <a:xfrm>
            <a:off x="5289804" y="2512314"/>
            <a:ext cx="539496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12" name="dp-90"/>
          <p:cNvSpPr/>
          <p:nvPr/>
        </p:nvSpPr>
        <p:spPr>
          <a:xfrm>
            <a:off x="5952744" y="3125191"/>
            <a:ext cx="136703" cy="136703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3" name="seg-91"/>
          <p:cNvSpPr/>
          <p:nvPr/>
        </p:nvSpPr>
        <p:spPr>
          <a:xfrm>
            <a:off x="6185916" y="1890522"/>
            <a:ext cx="539496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14" name="seg-92"/>
          <p:cNvSpPr/>
          <p:nvPr/>
        </p:nvSpPr>
        <p:spPr>
          <a:xfrm rot="5400000">
            <a:off x="6478524" y="2201418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15" name="seg-93"/>
          <p:cNvSpPr/>
          <p:nvPr/>
        </p:nvSpPr>
        <p:spPr>
          <a:xfrm rot="5400000">
            <a:off x="6478524" y="2823210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16" name="seg-94"/>
          <p:cNvSpPr/>
          <p:nvPr/>
        </p:nvSpPr>
        <p:spPr>
          <a:xfrm>
            <a:off x="6185916" y="3134106"/>
            <a:ext cx="539496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17" name="seg-95"/>
          <p:cNvSpPr/>
          <p:nvPr/>
        </p:nvSpPr>
        <p:spPr>
          <a:xfrm rot="5400000">
            <a:off x="5875020" y="2823210"/>
            <a:ext cx="557784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18" name="seg-96"/>
          <p:cNvSpPr/>
          <p:nvPr/>
        </p:nvSpPr>
        <p:spPr>
          <a:xfrm rot="5400000">
            <a:off x="5875020" y="2201418"/>
            <a:ext cx="557784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19" name="seg-97"/>
          <p:cNvSpPr/>
          <p:nvPr/>
        </p:nvSpPr>
        <p:spPr>
          <a:xfrm>
            <a:off x="6185916" y="2512314"/>
            <a:ext cx="539496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20" name="dp-98"/>
          <p:cNvSpPr/>
          <p:nvPr/>
        </p:nvSpPr>
        <p:spPr>
          <a:xfrm>
            <a:off x="6848856" y="3125191"/>
            <a:ext cx="136703" cy="13670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seg-99"/>
          <p:cNvSpPr/>
          <p:nvPr/>
        </p:nvSpPr>
        <p:spPr>
          <a:xfrm>
            <a:off x="7082028" y="1890522"/>
            <a:ext cx="539496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22" name="seg-100"/>
          <p:cNvSpPr/>
          <p:nvPr/>
        </p:nvSpPr>
        <p:spPr>
          <a:xfrm rot="5400000">
            <a:off x="7374636" y="2201418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23" name="seg-101"/>
          <p:cNvSpPr/>
          <p:nvPr/>
        </p:nvSpPr>
        <p:spPr>
          <a:xfrm rot="5400000">
            <a:off x="7374636" y="2823210"/>
            <a:ext cx="557784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24" name="seg-102"/>
          <p:cNvSpPr/>
          <p:nvPr/>
        </p:nvSpPr>
        <p:spPr>
          <a:xfrm>
            <a:off x="7082028" y="3134106"/>
            <a:ext cx="539496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25" name="seg-103"/>
          <p:cNvSpPr/>
          <p:nvPr/>
        </p:nvSpPr>
        <p:spPr>
          <a:xfrm rot="5400000">
            <a:off x="6771132" y="2823210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26" name="seg-104"/>
          <p:cNvSpPr/>
          <p:nvPr/>
        </p:nvSpPr>
        <p:spPr>
          <a:xfrm rot="5400000">
            <a:off x="6771132" y="2201418"/>
            <a:ext cx="557784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27" name="seg-105"/>
          <p:cNvSpPr/>
          <p:nvPr/>
        </p:nvSpPr>
        <p:spPr>
          <a:xfrm>
            <a:off x="7082028" y="2512314"/>
            <a:ext cx="539496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28" name="dp-106"/>
          <p:cNvSpPr/>
          <p:nvPr/>
        </p:nvSpPr>
        <p:spPr>
          <a:xfrm>
            <a:off x="7744968" y="3125191"/>
            <a:ext cx="136703" cy="136703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9" name="seg-107"/>
          <p:cNvSpPr/>
          <p:nvPr/>
        </p:nvSpPr>
        <p:spPr>
          <a:xfrm>
            <a:off x="7978140" y="1890522"/>
            <a:ext cx="539496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30" name="seg-108"/>
          <p:cNvSpPr/>
          <p:nvPr/>
        </p:nvSpPr>
        <p:spPr>
          <a:xfrm rot="5400000">
            <a:off x="8270748" y="2201418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31" name="seg-109"/>
          <p:cNvSpPr/>
          <p:nvPr/>
        </p:nvSpPr>
        <p:spPr>
          <a:xfrm rot="5400000">
            <a:off x="8270748" y="2823210"/>
            <a:ext cx="557784" cy="118872"/>
          </a:xfrm>
          <a:prstGeom prst="hexagon">
            <a:avLst/>
          </a:prstGeom>
          <a:solidFill>
            <a:schemeClr val="bg1"/>
          </a:solidFill>
          <a:ln/>
        </p:spPr>
      </p:sp>
      <p:sp>
        <p:nvSpPr>
          <p:cNvPr id="32" name="seg-110"/>
          <p:cNvSpPr/>
          <p:nvPr/>
        </p:nvSpPr>
        <p:spPr>
          <a:xfrm>
            <a:off x="7978140" y="3134106"/>
            <a:ext cx="539496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33" name="seg-111"/>
          <p:cNvSpPr/>
          <p:nvPr/>
        </p:nvSpPr>
        <p:spPr>
          <a:xfrm rot="5400000">
            <a:off x="7667244" y="2823210"/>
            <a:ext cx="557784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34" name="seg-112"/>
          <p:cNvSpPr/>
          <p:nvPr/>
        </p:nvSpPr>
        <p:spPr>
          <a:xfrm rot="5400000">
            <a:off x="7667244" y="2201418"/>
            <a:ext cx="557784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35" name="seg-113"/>
          <p:cNvSpPr/>
          <p:nvPr/>
        </p:nvSpPr>
        <p:spPr>
          <a:xfrm>
            <a:off x="7978140" y="2512314"/>
            <a:ext cx="539496" cy="118872"/>
          </a:xfrm>
          <a:prstGeom prst="hexagon">
            <a:avLst/>
          </a:prstGeom>
          <a:solidFill>
            <a:schemeClr val="accent5"/>
          </a:solidFill>
          <a:ln/>
        </p:spPr>
      </p:sp>
      <p:sp>
        <p:nvSpPr>
          <p:cNvPr id="36" name="dp-114"/>
          <p:cNvSpPr/>
          <p:nvPr/>
        </p:nvSpPr>
        <p:spPr>
          <a:xfrm>
            <a:off x="8641080" y="3125191"/>
            <a:ext cx="136703" cy="136703"/>
          </a:xfrm>
          <a:prstGeom prst="ellipse">
            <a:avLst/>
          </a:prstGeom>
          <a:solidFill>
            <a:schemeClr val="accent5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Setup / Hold time</a:t>
            </a:r>
            <a:endParaRPr lang="ko-KR" sz="2600" dirty="0"/>
          </a:p>
        </p:txBody>
      </p:sp>
      <p:pic>
        <p:nvPicPr>
          <p:cNvPr id="4" name="setup_hold-115" descr="setup_ho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03520" cy="3362432"/>
          </a:xfrm>
          <a:prstGeom prst="rect">
            <a:avLst/>
          </a:prstGeom>
        </p:spPr>
      </p:pic>
      <p:sp>
        <p:nvSpPr>
          <p:cNvPr id="5" name="text-116"/>
          <p:cNvSpPr txBox="1"/>
          <p:nvPr/>
        </p:nvSpPr>
        <p:spPr>
          <a:xfrm>
            <a:off x="6035040" y="109728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ko-KR" altLang="en-US" sz="1250" b="1" dirty="0">
                <a:solidFill>
                  <a:schemeClr val="tx2"/>
                </a:solidFill>
              </a:rPr>
              <a:t>개념  </a:t>
            </a:r>
            <a:pPr algn="l" indent="0" marL="0">
              <a:spcAft>
                <a:spcPts val="1000"/>
              </a:spcAft>
              <a:buNone/>
            </a:pPr>
            <a:r>
              <a:rPr lang="ko-KR" altLang="en-US" sz="1250" dirty="0">
                <a:solidFill>
                  <a:schemeClr val="tx1"/>
                </a:solidFill>
              </a:rPr>
              <a:t>클럭 엣지 앞뒤로 데이터가 안정되어 있어야 하는 최소 시간. 앞이 setup, 뒤가 hold.</a:t>
            </a:r>
            <a:endParaRPr lang="ko-KR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ko-KR" altLang="en-US" sz="1250" b="1" dirty="0">
                <a:solidFill>
                  <a:schemeClr val="tx2"/>
                </a:solidFill>
              </a:rPr>
              <a:t>원인·문제  </a:t>
            </a:r>
            <a:pPr algn="l" indent="0" marL="0">
              <a:spcAft>
                <a:spcPts val="1000"/>
              </a:spcAft>
              <a:buNone/>
            </a:pPr>
            <a:r>
              <a:rPr lang="ko-KR" altLang="en-US" sz="1250" dirty="0">
                <a:solidFill>
                  <a:schemeClr val="tx1"/>
                </a:solidFill>
              </a:rPr>
              <a:t>조합 로직 지연이 길거나 클럭 주기가 짧으면 setup 위반, 경로가 너무 빠르거나 클럭 스큐가 크면 hold 위반. 위반하면 FF 가 어떤 값을 잡을지 알 수 없다.</a:t>
            </a:r>
            <a:endParaRPr lang="ko-KR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ko-KR" altLang="en-US" sz="1250" b="1" dirty="0">
                <a:solidFill>
                  <a:schemeClr val="tx2"/>
                </a:solidFill>
              </a:rPr>
              <a:t>해결  </a:t>
            </a:r>
            <a:pPr algn="l" indent="0" marL="0">
              <a:spcAft>
                <a:spcPts val="1000"/>
              </a:spcAft>
              <a:buNone/>
            </a:pPr>
            <a:r>
              <a:rPr lang="ko-KR" altLang="en-US" sz="1250" dirty="0">
                <a:solidFill>
                  <a:schemeClr val="tx1"/>
                </a:solidFill>
              </a:rPr>
              <a:t>주기 늘리기, 경로 쪼개기(파이프라인), 스큐 줄이기. 이 설계에서는 분주 클럭을 안 쓰고 단일 클럭 + enable 로 두어 툴이 모든 경로를 한 클럭 기준으로 검사하게 했다.</a:t>
            </a:r>
            <a:endParaRPr lang="ko-KR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Metastability</a:t>
            </a:r>
            <a:endParaRPr lang="ko-KR" sz="2600" dirty="0"/>
          </a:p>
        </p:txBody>
      </p:sp>
      <p:pic>
        <p:nvPicPr>
          <p:cNvPr id="4" name="metastability-117" descr="metastabil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03520" cy="3298789"/>
          </a:xfrm>
          <a:prstGeom prst="rect">
            <a:avLst/>
          </a:prstGeom>
        </p:spPr>
      </p:pic>
      <p:sp>
        <p:nvSpPr>
          <p:cNvPr id="5" name="text-118"/>
          <p:cNvSpPr txBox="1"/>
          <p:nvPr/>
        </p:nvSpPr>
        <p:spPr>
          <a:xfrm>
            <a:off x="6035040" y="109728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원인  </a:t>
            </a:r>
            <a:pPr algn="l" indent="0" marL="0">
              <a:spcAft>
                <a:spcPts val="1000"/>
              </a:spcAft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setup/hold 를 지킬 수 없는 입력, 즉 비동기 입력(버튼, 다른 클럭 도메인 신호)이 엣지 근처에서 바뀌면 FF 출력이 0 도 1 도 아닌 상태에 머물렀다가 임의의 시점에 정해진다.</a:t>
            </a:r>
            <a:endParaRPr lang="ko-KR" sz="1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해결  </a:t>
            </a:r>
            <a:pPr algn="l" indent="0" marL="0">
              <a:spcAft>
                <a:spcPts val="1000"/>
              </a:spcAft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2단 FF 동기화기. 첫 FF 가 준안정이어도 한 클럭 동안 안정될 시간을 주고 두 번째 FF 가 받는다. 완전히 없애는 게 아니라 MTBF 를 실용적으로 충분히 늘리는 것.</a:t>
            </a:r>
            <a:endParaRPr lang="ko-KR" sz="1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이 설계  </a:t>
            </a:r>
            <a:pPr algn="l" indent="0" marL="0">
              <a:spcAft>
                <a:spcPts val="1000"/>
              </a:spcAft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debouncer.v 의 btn_meta, btn_sync. ASYNC_REG 속성으로 두 FF 를 같은 슬라이스에 배치하도록 툴에 알린다. 리셋(btnU) 은 아직 동기화하지 않았다.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Glitch</a:t>
            </a:r>
            <a:endParaRPr lang="ko-KR" sz="2600" dirty="0"/>
          </a:p>
        </p:txBody>
      </p:sp>
      <p:pic>
        <p:nvPicPr>
          <p:cNvPr id="4" name="glitch-119" descr="gli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03520" cy="3213933"/>
          </a:xfrm>
          <a:prstGeom prst="rect">
            <a:avLst/>
          </a:prstGeom>
        </p:spPr>
      </p:pic>
      <p:sp>
        <p:nvSpPr>
          <p:cNvPr id="5" name="text-120"/>
          <p:cNvSpPr txBox="1"/>
          <p:nvPr/>
        </p:nvSpPr>
        <p:spPr>
          <a:xfrm>
            <a:off x="6035040" y="109728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ko-KR" altLang="en-US" sz="1250" b="1" dirty="0">
                <a:solidFill>
                  <a:schemeClr val="tx2"/>
                </a:solidFill>
              </a:rPr>
              <a:t>정의  </a:t>
            </a:r>
            <a:pPr algn="l" indent="0" marL="0">
              <a:spcAft>
                <a:spcPts val="1000"/>
              </a:spcAft>
              <a:buNone/>
            </a:pPr>
            <a:r>
              <a:rPr lang="ko-KR" altLang="en-US" sz="1250" dirty="0">
                <a:solidFill>
                  <a:schemeClr val="tx1"/>
                </a:solidFill>
              </a:rPr>
              <a:t>조합 로직 출력이 최종값에 도달하기 전에 잠깐 튀는 것. 입력 하나가 여러 경로로 갈라져 지연이 다를 때 생긴다(hazard).</a:t>
            </a:r>
            <a:endParaRPr lang="ko-KR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ko-KR" altLang="en-US" sz="1250" b="1" dirty="0">
                <a:solidFill>
                  <a:schemeClr val="tx2"/>
                </a:solidFill>
              </a:rPr>
              <a:t>문제  </a:t>
            </a:r>
            <a:pPr algn="l" indent="0" marL="0">
              <a:spcAft>
                <a:spcPts val="1000"/>
              </a:spcAft>
              <a:buNone/>
            </a:pPr>
            <a:r>
              <a:rPr lang="ko-KR" altLang="en-US" sz="1250" dirty="0">
                <a:solidFill>
                  <a:schemeClr val="tx1"/>
                </a:solidFill>
              </a:rPr>
              <a:t>그 출력을 클럭이나 비동기 리셋, 또는 외부 핀으로 쓰면 튄 펄스가 실제 동작이 된다.</a:t>
            </a:r>
            <a:endParaRPr lang="ko-KR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ko-KR" altLang="en-US" sz="1250" b="1" dirty="0">
                <a:solidFill>
                  <a:schemeClr val="tx2"/>
                </a:solidFill>
              </a:rPr>
              <a:t>해결  </a:t>
            </a:r>
            <a:pPr algn="l" indent="0" marL="0">
              <a:spcAft>
                <a:spcPts val="1000"/>
              </a:spcAft>
              <a:buNone/>
            </a:pPr>
            <a:r>
              <a:rPr lang="ko-KR" altLang="en-US" sz="1250" dirty="0">
                <a:solidFill>
                  <a:schemeClr val="tx1"/>
                </a:solidFill>
              </a:rPr>
              <a:t>조합 출력을 FF 로 받아서 클럭 엣지에서만 샘플링. 조합 로직 출력을 클럭으로 쓰지 않는다.</a:t>
            </a:r>
            <a:endParaRPr lang="ko-KR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ko-KR" altLang="en-US" sz="1250" b="1" dirty="0">
                <a:solidFill>
                  <a:schemeClr val="tx2"/>
                </a:solidFill>
              </a:rPr>
              <a:t>이 설계  </a:t>
            </a:r>
            <a:pPr algn="l" indent="0" marL="0">
              <a:spcAft>
                <a:spcPts val="1000"/>
              </a:spcAft>
              <a:buNone/>
            </a:pPr>
            <a:r>
              <a:rPr lang="ko-KR" altLang="en-US" sz="1250" dirty="0">
                <a:solidFill>
                  <a:schemeClr val="tx1"/>
                </a:solidFill>
              </a:rPr>
              <a:t>fnd_controller 의 an/seg 를 출력 FF 로 받았다. tick 을 클럭이 아니라 enable 으로 쓴 것도 같은 이유.</a:t>
            </a:r>
            <a:endParaRPr lang="ko-KR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Fan-out</a:t>
            </a:r>
            <a:endParaRPr lang="ko-KR" sz="2600" dirty="0"/>
          </a:p>
        </p:txBody>
      </p:sp>
      <p:pic>
        <p:nvPicPr>
          <p:cNvPr id="4" name="fanout-121" descr="fano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03520" cy="3606394"/>
          </a:xfrm>
          <a:prstGeom prst="rect">
            <a:avLst/>
          </a:prstGeom>
        </p:spPr>
      </p:pic>
      <p:sp>
        <p:nvSpPr>
          <p:cNvPr id="5" name="text-122"/>
          <p:cNvSpPr txBox="1"/>
          <p:nvPr/>
        </p:nvSpPr>
        <p:spPr>
          <a:xfrm>
            <a:off x="6035040" y="109728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정의  </a:t>
            </a:r>
            <a:pPr algn="l" indent="0" marL="0">
              <a:spcAft>
                <a:spcPts val="1000"/>
              </a:spcAft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하나의 출력이 구동하는 입력의 개수.</a:t>
            </a:r>
            <a:endParaRPr lang="ko-KR" sz="1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문제  </a:t>
            </a:r>
            <a:pPr algn="l" indent="0" marL="0">
              <a:spcAft>
                <a:spcPts val="1000"/>
              </a:spcAft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부하 커패시턴스가 커져 상승/하강이 느려지고 지연이 늘어 setup 위반으로 이어진다. 전압 레벨도 나빠질 수 있다.</a:t>
            </a:r>
            <a:endParaRPr lang="ko-KR" sz="1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해결  </a:t>
            </a:r>
            <a:pPr algn="l" indent="0" marL="0">
              <a:spcAft>
                <a:spcPts val="1000"/>
              </a:spcAft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버퍼 트리, 레지스터 복제(같은 값을 가진 FF 를 여러 개 두어 부하 분산). 클럭은 전용 글로벌 버퍼(BUFG) 로 보낸다. Vivado 는 합성 시 fan-out 한도를 넘으면 자동 복제한다.</a:t>
            </a:r>
            <a:endParaRPr lang="ko-KR" sz="1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이 설계  </a:t>
            </a:r>
            <a:pPr algn="l" indent="0" marL="0">
              <a:spcAft>
                <a:spcPts val="1000"/>
              </a:spcAft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tick, reset, state 가 fan-out 이 큰 신호. 100 MHz 에서는 여유가 있지만 리포트의 High Fanout Nets 를 확인할 항목.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정리</a:t>
            </a:r>
            <a:endParaRPr lang="ko-KR" sz="2600" dirty="0"/>
          </a:p>
        </p:txBody>
      </p:sp>
      <p:sp>
        <p:nvSpPr>
          <p:cNvPr id="4" name="text-123"/>
          <p:cNvSpPr txBox="1"/>
          <p:nvPr/>
        </p:nvSpPr>
        <p:spPr>
          <a:xfrm>
            <a:off x="457200" y="118872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요구사항 세 가지는 FSM 상태 하나(ANIM), 카운터 비교 하나(ms_cnt &lt; 500), 모드 하나 추가로 풀었다.</a:t>
            </a:r>
            <a:endParaRPr lang="ko-KR" sz="14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설계 원칙은 단일 클럭 + tick enable, 입력은 펄스로, 표시는 분리. 이 셋이 setup/hold, metastability, glitch, fan-out 과 각각 닿아 있다.</a:t>
            </a:r>
            <a:endParaRPr lang="ko-KR" sz="14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남은 일: Vivado 파형 캡처, Timing Summary 확인, 리셋 동기화.</a:t>
            </a:r>
            <a:endParaRPr lang="ko-KR" sz="1400" dirty="0"/>
          </a:p>
        </p:txBody>
      </p:sp>
      <p:sp>
        <p:nvSpPr>
          <p:cNvPr id="5" name="text-124"/>
          <p:cNvSpPr txBox="1"/>
          <p:nvPr/>
        </p:nvSpPr>
        <p:spPr>
          <a:xfrm>
            <a:off x="457200" y="4160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코드와 문서 — github.com/7SH7/min_sec_time_stopwatch_fpga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pwatch">
  <a:themeElements>
    <a:clrScheme name="Stopwatch">
      <a:dk1>
        <a:srgbClr val="1F1F1F"/>
      </a:dk1>
      <a:lt1>
        <a:srgbClr val="FFFFFF"/>
      </a:lt1>
      <a:dk2>
        <a:srgbClr val="6B7076"/>
      </a:dk2>
      <a:lt2>
        <a:srgbClr val="F3F4F6"/>
      </a:lt2>
      <a:accent1>
        <a:srgbClr val="C8102E"/>
      </a:accent1>
      <a:accent2>
        <a:srgbClr val="9AA0A6"/>
      </a:accent2>
      <a:accent3>
        <a:srgbClr val="C9CDD2"/>
      </a:accent3>
      <a:accent4>
        <a:srgbClr val="4A4F55"/>
      </a:accent4>
      <a:accent5>
        <a:srgbClr val="2E3338"/>
      </a:accent5>
      <a:accent6>
        <a:srgbClr val="7A7F86"/>
      </a:accent6>
      <a:hlink>
        <a:srgbClr val="C8102E"/>
      </a:hlink>
      <a:folHlink>
        <a:srgbClr val="6B7076"/>
      </a:folHlink>
    </a:clrScheme>
    <a:fontScheme name="Stopwatch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분초 스톱워치 설계</dc:title>
  <dc:subject>PptxGenJS Presentation</dc:subject>
  <dc:creator>7SH7</dc:creator>
  <cp:lastModifiedBy>7SH7</cp:lastModifiedBy>
  <cp:revision>1</cp:revision>
  <dcterms:created xsi:type="dcterms:W3CDTF">2026-10-22T05:50:22Z</dcterms:created>
  <dcterms:modified xsi:type="dcterms:W3CDTF">2026-10-22T05:50:22Z</dcterms:modified>
</cp:coreProperties>
</file>